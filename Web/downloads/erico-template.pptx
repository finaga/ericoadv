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16x9"/>
  <p:notesSz cx="6858000" cy="9144000"/>
  <p:embeddedFontLst>
    <p:embeddedFont>
      <p:font typeface="Syne"/>
      <p:regular r:id="rIdFont1"/>
      <p:bold r:id="rIdFont2"/>
    </p:embeddedFont>
    <p:embeddedFont>
      <p:font typeface="Inter"/>
      <p:regular r:id="rIdFont3"/>
      <p:bold r:id="rId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47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mbol-cream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587500"/>
            <a:ext cx="9525000" cy="9525000"/>
          </a:xfrm>
          <a:prstGeom prst="rect">
            <a:avLst/>
          </a:prstGeom>
        </p:spPr>
      </p:pic>
      <p:pic>
        <p:nvPicPr>
          <p:cNvPr id="3" name="Picture 2" descr="lockup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483100"/>
            <a:ext cx="6350000" cy="50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" y="52959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613400"/>
            <a:ext cx="109728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F3F2EE"/>
                </a:solidFill>
                <a:latin typeface="Syne"/>
              </a:rPr>
              <a:t>DISPUTAS COMPLEXAS  ·  ARBITRAGEM  ·  BRASÍLIA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969000"/>
            <a:ext cx="109728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Maio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cku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483100"/>
            <a:ext cx="6350000" cy="50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2959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613400"/>
            <a:ext cx="109728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1A1A19"/>
                </a:solidFill>
                <a:latin typeface="Syne"/>
              </a:rPr>
              <a:t>DISPUTAS COMPLEXAS  ·  ARBITRAGEM  ·  BRASÍLIA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969000"/>
            <a:ext cx="109728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1A1A19"/>
                </a:solidFill>
                <a:latin typeface="Inter"/>
              </a:rPr>
              <a:t>Maio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mbol-cream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587500"/>
            <a:ext cx="9525000" cy="9525000"/>
          </a:xfrm>
          <a:prstGeom prst="rect">
            <a:avLst/>
          </a:prstGeom>
        </p:spPr>
      </p:pic>
      <p:pic>
        <p:nvPicPr>
          <p:cNvPr id="3" name="Picture 2" descr="lockup-c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483100"/>
            <a:ext cx="6350000" cy="50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" y="52959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613400"/>
            <a:ext cx="109728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F3F2EE"/>
                </a:solidFill>
                <a:latin typeface="Syne"/>
              </a:rPr>
              <a:t>DISPUTAS COMPLEXAS  ·  ARBITRAGEM  ·  BRASÍLIA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969000"/>
            <a:ext cx="109728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Maio  ·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>
                <a:solidFill>
                  <a:srgbClr val="00347E"/>
                </a:solidFill>
                <a:latin typeface="Inter"/>
              </a:rPr>
              <a:t>SOBRE O ESCRITÓRIO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095500"/>
            <a:ext cx="109728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4000"/>
              </a:lnSpc>
            </a:pPr>
            <a:r>
              <a:rPr sz="3000" b="0" spc="-50">
                <a:solidFill>
                  <a:srgbClr val="1A1A19"/>
                </a:solidFill>
                <a:latin typeface="Syne"/>
              </a:rPr>
              <a:t>Banca boutique</a:t>
            </a:r>
          </a:p>
          <a:p>
            <a:pPr algn="l">
              <a:lnSpc>
                <a:spcPts val="4000"/>
              </a:lnSpc>
            </a:pPr>
            <a:r>
              <a:rPr sz="3000" b="0" spc="-50">
                <a:solidFill>
                  <a:srgbClr val="1A1A19"/>
                </a:solidFill>
                <a:latin typeface="Syne"/>
              </a:rPr>
              <a:t>dedicada à arbitragem.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3479800"/>
            <a:ext cx="381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797300"/>
            <a:ext cx="10972800" cy="165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  <a:spcAft>
                <a:spcPts val="1000"/>
              </a:spcAft>
            </a:pPr>
            <a:r>
              <a:rPr sz="900" b="0">
                <a:solidFill>
                  <a:srgbClr val="4A4843"/>
                </a:solidFill>
                <a:latin typeface="Inter"/>
              </a:rPr>
              <a:t>Atuamos com discrição em arbitragens domésticas e internacionais. Cada caso recebe atenção dedicada da equipe sênior, sem intermediários.</a:t>
            </a:r>
          </a:p>
          <a:p>
            <a:pPr algn="l">
              <a:lnSpc>
                <a:spcPts val="1600"/>
              </a:lnSpc>
            </a:pPr>
            <a:r>
              <a:rPr sz="900" b="0">
                <a:solidFill>
                  <a:srgbClr val="4A4843"/>
                </a:solidFill>
                <a:latin typeface="Inter"/>
              </a:rPr>
              <a:t>Comprometimento com excelência, ética e resultado.</a:t>
            </a:r>
          </a:p>
        </p:txBody>
      </p:sp>
      <p:pic>
        <p:nvPicPr>
          <p:cNvPr id="6" name="Picture 5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>
                <a:solidFill>
                  <a:srgbClr val="00347E"/>
                </a:solidFill>
                <a:latin typeface="Inter"/>
              </a:rPr>
              <a:t>ÁREAS DE ATUAÇÃO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93800"/>
            <a:ext cx="1097280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4000"/>
              </a:lnSpc>
            </a:pPr>
            <a:r>
              <a:rPr sz="3000" b="0" spc="-50">
                <a:solidFill>
                  <a:srgbClr val="1A1A19"/>
                </a:solidFill>
                <a:latin typeface="Syne"/>
              </a:rPr>
              <a:t>Onde atuamos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82800"/>
            <a:ext cx="3810000" cy="177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3000" b="1" spc="-50">
                <a:solidFill>
                  <a:srgbClr val="B28C4D"/>
                </a:solidFill>
                <a:latin typeface="Syne"/>
              </a:rPr>
              <a:t>01</a:t>
            </a:r>
          </a:p>
          <a:p>
            <a:pPr algn="l">
              <a:lnSpc>
                <a:spcPts val="1800"/>
              </a:lnSpc>
              <a:spcAft>
                <a:spcPts val="200"/>
              </a:spcAft>
            </a:pPr>
            <a:r>
              <a:rPr sz="1500" b="0">
                <a:solidFill>
                  <a:srgbClr val="1A1A19"/>
                </a:solidFill>
                <a:latin typeface="Syne"/>
              </a:rPr>
              <a:t>Contencioso estratégico</a:t>
            </a:r>
          </a:p>
          <a:p>
            <a:pPr algn="l">
              <a:lnSpc>
                <a:spcPts val="1500"/>
              </a:lnSpc>
            </a:pPr>
            <a:r>
              <a:rPr sz="900" b="0">
                <a:solidFill>
                  <a:srgbClr val="6B6860"/>
                </a:solidFill>
                <a:latin typeface="Inter"/>
              </a:rPr>
              <a:t>Demandas complexas em foros superiores.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2082800"/>
            <a:ext cx="3810000" cy="177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3000" b="1" spc="-50">
                <a:solidFill>
                  <a:srgbClr val="B28C4D"/>
                </a:solidFill>
                <a:latin typeface="Syne"/>
              </a:rPr>
              <a:t>02</a:t>
            </a:r>
          </a:p>
          <a:p>
            <a:pPr algn="l">
              <a:lnSpc>
                <a:spcPts val="1800"/>
              </a:lnSpc>
              <a:spcAft>
                <a:spcPts val="200"/>
              </a:spcAft>
            </a:pPr>
            <a:r>
              <a:rPr sz="1500" b="0">
                <a:solidFill>
                  <a:srgbClr val="1A1A19"/>
                </a:solidFill>
                <a:latin typeface="Syne"/>
              </a:rPr>
              <a:t>Direito empresarial</a:t>
            </a:r>
          </a:p>
          <a:p>
            <a:pPr algn="l">
              <a:lnSpc>
                <a:spcPts val="1500"/>
              </a:lnSpc>
            </a:pPr>
            <a:r>
              <a:rPr sz="900" b="0">
                <a:solidFill>
                  <a:srgbClr val="6B6860"/>
                </a:solidFill>
                <a:latin typeface="Inter"/>
              </a:rPr>
              <a:t>Consultoria estratégica para empresas.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37000"/>
            <a:ext cx="3810000" cy="177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3000" b="1" spc="-50">
                <a:solidFill>
                  <a:srgbClr val="B28C4D"/>
                </a:solidFill>
                <a:latin typeface="Syne"/>
              </a:rPr>
              <a:t>03</a:t>
            </a:r>
          </a:p>
          <a:p>
            <a:pPr algn="l">
              <a:lnSpc>
                <a:spcPts val="1800"/>
              </a:lnSpc>
              <a:spcAft>
                <a:spcPts val="200"/>
              </a:spcAft>
            </a:pPr>
            <a:r>
              <a:rPr sz="1500" b="0">
                <a:solidFill>
                  <a:srgbClr val="1A1A19"/>
                </a:solidFill>
                <a:latin typeface="Syne"/>
              </a:rPr>
              <a:t>Arbitragem doméstica</a:t>
            </a:r>
          </a:p>
          <a:p>
            <a:pPr algn="l">
              <a:lnSpc>
                <a:spcPts val="1500"/>
              </a:lnSpc>
            </a:pPr>
            <a:r>
              <a:rPr sz="900" b="0">
                <a:solidFill>
                  <a:srgbClr val="6B6860"/>
                </a:solidFill>
                <a:latin typeface="Inter"/>
              </a:rPr>
              <a:t>Resolução de disputas via câmaras nacionais.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937000"/>
            <a:ext cx="3810000" cy="177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3600"/>
              </a:lnSpc>
              <a:spcAft>
                <a:spcPts val="600"/>
              </a:spcAft>
            </a:pPr>
            <a:r>
              <a:rPr sz="3000" b="1" spc="-50">
                <a:solidFill>
                  <a:srgbClr val="B28C4D"/>
                </a:solidFill>
                <a:latin typeface="Syne"/>
              </a:rPr>
              <a:t>04</a:t>
            </a:r>
          </a:p>
          <a:p>
            <a:pPr algn="l">
              <a:lnSpc>
                <a:spcPts val="1800"/>
              </a:lnSpc>
              <a:spcAft>
                <a:spcPts val="200"/>
              </a:spcAft>
            </a:pPr>
            <a:r>
              <a:rPr sz="1500" b="0">
                <a:solidFill>
                  <a:srgbClr val="1A1A19"/>
                </a:solidFill>
                <a:latin typeface="Syne"/>
              </a:rPr>
              <a:t>Arbitragem internacional</a:t>
            </a:r>
          </a:p>
          <a:p>
            <a:pPr algn="l">
              <a:lnSpc>
                <a:spcPts val="1500"/>
              </a:lnSpc>
            </a:pPr>
            <a:r>
              <a:rPr sz="900" b="0">
                <a:solidFill>
                  <a:srgbClr val="6B6860"/>
                </a:solidFill>
                <a:latin typeface="Inter"/>
              </a:rPr>
              <a:t>Atuação em câmaras estrangeiras (ICC, LCIA, AAA).</a:t>
            </a:r>
          </a:p>
        </p:txBody>
      </p:sp>
      <p:pic>
        <p:nvPicPr>
          <p:cNvPr id="8" name="Picture 7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47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mbol-cream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587500"/>
            <a:ext cx="9525000" cy="952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21200"/>
            <a:ext cx="109728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F3F2EE"/>
                </a:solidFill>
                <a:latin typeface="Syne"/>
              </a:rPr>
              <a:t>PARTE 02  ·  ÁREAS DE ATUAÇÃO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902200"/>
            <a:ext cx="109728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ADVOCACIA EM ARBITRAGEM  ·  BRASÍLIA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086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ico-wordmark-in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F3F2EE"/>
                </a:solidFill>
                <a:latin typeface="Inter"/>
              </a:rPr>
              <a:t>006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21200"/>
            <a:ext cx="109728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1A1A19"/>
                </a:solidFill>
                <a:latin typeface="Syne"/>
              </a:rPr>
              <a:t>PARTE 02  ·  ÁREAS DE ATUAÇÃO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902200"/>
            <a:ext cx="109728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1A1A19"/>
                </a:solidFill>
                <a:latin typeface="Inter"/>
              </a:rPr>
              <a:t>ADVOCACIA EM ARBITRAGEM  ·  BRASÍLIA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53086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mbol-cream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587500"/>
            <a:ext cx="9525000" cy="952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21200"/>
            <a:ext cx="109728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</a:pPr>
            <a:r>
              <a:rPr sz="1800" b="0">
                <a:solidFill>
                  <a:srgbClr val="F3F2EE"/>
                </a:solidFill>
                <a:latin typeface="Syne"/>
              </a:rPr>
              <a:t>PARTE 02  ·  ÁREAS DE ATUAÇÃO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902200"/>
            <a:ext cx="109728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ADVOCACIA EM ARBITRAGEM  ·  BRASÍLIA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086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ico-wordmark-in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F3F2EE"/>
                </a:solidFill>
                <a:latin typeface="Inter"/>
              </a:rPr>
              <a:t>008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>
                <a:solidFill>
                  <a:srgbClr val="00347E"/>
                </a:solidFill>
                <a:latin typeface="Inter"/>
              </a:rPr>
              <a:t>ABORDAGEM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587500"/>
            <a:ext cx="109728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4000"/>
              </a:lnSpc>
            </a:pPr>
            <a:r>
              <a:rPr sz="3000" b="0" spc="-50">
                <a:solidFill>
                  <a:srgbClr val="1A1A19"/>
                </a:solidFill>
                <a:latin typeface="Syne"/>
              </a:rPr>
              <a:t>A confidencialidade é método.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9845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365500"/>
            <a:ext cx="10972800" cy="241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  <a:spcAft>
                <a:spcPts val="1400"/>
              </a:spcAft>
            </a:pPr>
            <a:r>
              <a:rPr sz="1500" b="0">
                <a:solidFill>
                  <a:srgbClr val="4A4843"/>
                </a:solidFill>
                <a:latin typeface="Inter"/>
              </a:rPr>
              <a:t>Em arbitragem, discrição não é uma cortesia — é uma exigência estrutural. Cada documento, cada conversa e cada decisão é tratada com o mesmo rigor que o caso pede.</a:t>
            </a:r>
          </a:p>
          <a:p>
            <a:pPr algn="l">
              <a:lnSpc>
                <a:spcPts val="2400"/>
              </a:lnSpc>
            </a:pPr>
            <a:r>
              <a:rPr sz="1500" b="0">
                <a:solidFill>
                  <a:srgbClr val="4A4843"/>
                </a:solidFill>
                <a:latin typeface="Inter"/>
              </a:rPr>
              <a:t>Este é o nosso compromisso desde o primeiro contato.</a:t>
            </a:r>
          </a:p>
        </p:txBody>
      </p:sp>
      <p:pic>
        <p:nvPicPr>
          <p:cNvPr id="6" name="Picture 5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109728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>
                <a:solidFill>
                  <a:srgbClr val="00347E"/>
                </a:solidFill>
                <a:latin typeface="Inter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60500"/>
            <a:ext cx="533400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4000"/>
              </a:lnSpc>
            </a:pPr>
            <a:r>
              <a:rPr sz="3000" b="0" spc="-50">
                <a:solidFill>
                  <a:srgbClr val="1A1A19"/>
                </a:solidFill>
                <a:latin typeface="Syne"/>
              </a:rPr>
              <a:t>Brasília advocacy.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7305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098800"/>
            <a:ext cx="5334000" cy="228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2400"/>
              </a:lnSpc>
            </a:pPr>
            <a:r>
              <a:rPr sz="1500" b="0">
                <a:solidFill>
                  <a:srgbClr val="4A4843"/>
                </a:solidFill>
                <a:latin typeface="Inter"/>
              </a:rPr>
              <a:t>Centro administrativo e judicial do país. Acesso direto a câmaras de arbitragem, foros superiores e ao maior fluxo decisório do Brasil.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400" y="1460500"/>
            <a:ext cx="5334000" cy="4064000"/>
          </a:xfrm>
          <a:prstGeom prst="rect">
            <a:avLst/>
          </a:prstGeom>
          <a:solidFill>
            <a:srgbClr val="E3E0D7"/>
          </a:solidFill>
          <a:ln w="12700">
            <a:solidFill>
              <a:srgbClr val="6B68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203200" bIns="203200" rIns="203200" tIns="203200"/>
          <a:lstStyle/>
          <a:p>
            <a:pPr algn="ctr">
              <a:lnSpc>
                <a:spcPts val="2650"/>
              </a:lnSpc>
            </a:pPr>
            <a:r>
              <a:rPr sz="2400">
                <a:solidFill>
                  <a:srgbClr val="6B6860"/>
                </a:solidFill>
                <a:latin typeface="Syne"/>
              </a:rPr>
              <a:t>Image</a:t>
            </a:r>
          </a:p>
          <a:p>
            <a:pPr>
              <a:lnSpc>
                <a:spcPts val="2650"/>
              </a:lnSpc>
            </a:pPr>
            <a:r>
              <a:rPr sz="2400">
                <a:solidFill>
                  <a:srgbClr val="6B6860"/>
                </a:solidFill>
                <a:latin typeface="Syne"/>
              </a:rPr>
              <a:t>Placeholder</a:t>
            </a:r>
          </a:p>
        </p:txBody>
      </p:sp>
      <p:pic>
        <p:nvPicPr>
          <p:cNvPr id="7" name="Picture 6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905000"/>
            <a:ext cx="10972800" cy="889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ts val="6000"/>
              </a:lnSpc>
            </a:pPr>
            <a:r>
              <a:rPr sz="6000" b="0">
                <a:solidFill>
                  <a:srgbClr val="B28C4D"/>
                </a:solidFill>
                <a:latin typeface="Syne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984500"/>
            <a:ext cx="10972800" cy="1016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ts val="3200"/>
              </a:lnSpc>
            </a:pPr>
            <a:r>
              <a:rPr sz="2400" b="0" spc="-50">
                <a:solidFill>
                  <a:srgbClr val="1A1A19"/>
                </a:solidFill>
                <a:latin typeface="Syne"/>
              </a:rPr>
              <a:t>Justiça que não respeita o silêncio</a:t>
            </a:r>
          </a:p>
          <a:p>
            <a:pPr algn="ctr">
              <a:lnSpc>
                <a:spcPts val="3200"/>
              </a:lnSpc>
            </a:pPr>
            <a:r>
              <a:rPr sz="2400" b="0" spc="-50">
                <a:solidFill>
                  <a:srgbClr val="1A1A19"/>
                </a:solidFill>
                <a:latin typeface="Syne"/>
              </a:rPr>
              <a:t>de quem a busca, não é justiça.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588000" y="4064000"/>
            <a:ext cx="1016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241800"/>
            <a:ext cx="109728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ts val="1600"/>
              </a:lnSpc>
            </a:pPr>
            <a:r>
              <a:rPr sz="900" b="0">
                <a:solidFill>
                  <a:srgbClr val="1A1A19"/>
                </a:solidFill>
                <a:latin typeface="Inter"/>
              </a:rPr>
              <a:t>Fonte da citação</a:t>
            </a:r>
          </a:p>
        </p:txBody>
      </p:sp>
      <p:pic>
        <p:nvPicPr>
          <p:cNvPr id="6" name="Picture 5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77400" y="6083300"/>
            <a:ext cx="19050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550" b="0" spc="385">
                <a:solidFill>
                  <a:srgbClr val="00347E"/>
                </a:solidFill>
                <a:latin typeface="Inter"/>
              </a:rPr>
              <a:t>011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47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mbol-cream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587500"/>
            <a:ext cx="9525000" cy="952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810000"/>
            <a:ext cx="10972800" cy="825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5500"/>
              </a:lnSpc>
            </a:pPr>
            <a:r>
              <a:rPr sz="4800" b="1" spc="-100">
                <a:solidFill>
                  <a:srgbClr val="F3F2EE"/>
                </a:solidFill>
                <a:latin typeface="Syne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736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erico@erico.law  ·  erico.law</a:t>
            </a:r>
          </a:p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61 99887.7665  ·  Brasília, DF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324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ico-wordmark-in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0"/>
            <a:ext cx="10972800" cy="825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5500"/>
              </a:lnSpc>
            </a:pPr>
            <a:r>
              <a:rPr sz="4800" b="1" spc="-100">
                <a:solidFill>
                  <a:srgbClr val="1A1A19"/>
                </a:solidFill>
                <a:latin typeface="Syne"/>
              </a:rP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6736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1A1A19"/>
                </a:solidFill>
                <a:latin typeface="Inter"/>
              </a:rPr>
              <a:t>erico@erico.law  ·  erico.law</a:t>
            </a:r>
          </a:p>
          <a:p>
            <a:pPr algn="l">
              <a:lnSpc>
                <a:spcPts val="1600"/>
              </a:lnSpc>
            </a:pPr>
            <a:r>
              <a:rPr sz="900" b="0">
                <a:solidFill>
                  <a:srgbClr val="1A1A19"/>
                </a:solidFill>
                <a:latin typeface="Inter"/>
              </a:rPr>
              <a:t>61 99887.7665  ·  Brasília, 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52324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ico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mbol-cream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587500"/>
            <a:ext cx="9525000" cy="952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810000"/>
            <a:ext cx="10972800" cy="825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5500"/>
              </a:lnSpc>
            </a:pPr>
            <a:r>
              <a:rPr sz="4800" b="1" spc="-100">
                <a:solidFill>
                  <a:srgbClr val="F3F2EE"/>
                </a:solidFill>
                <a:latin typeface="Syne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673600"/>
            <a:ext cx="10972800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erico@erico.law  ·  erico.law</a:t>
            </a:r>
          </a:p>
          <a:p>
            <a:pPr algn="l">
              <a:lnSpc>
                <a:spcPts val="1600"/>
              </a:lnSpc>
            </a:pPr>
            <a:r>
              <a:rPr sz="900" b="0">
                <a:solidFill>
                  <a:srgbClr val="F3F2EE"/>
                </a:solidFill>
                <a:latin typeface="Inter"/>
              </a:rPr>
              <a:t>61 99887.7665  ·  Brasília, DF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232400"/>
            <a:ext cx="508000" cy="12700"/>
          </a:xfrm>
          <a:prstGeom prst="rect">
            <a:avLst/>
          </a:prstGeom>
          <a:solidFill>
            <a:srgbClr val="B28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ico-wordmark-in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21400"/>
            <a:ext cx="1009650" cy="12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rico Advogados">
  <a:themeElements>
    <a:clrScheme name="Erico">
      <a:dk1>
        <a:srgbClr val="1A1A19"/>
      </a:dk1>
      <a:lt1>
        <a:srgbClr val="F3F2EE"/>
      </a:lt1>
      <a:dk2>
        <a:srgbClr val="00347E"/>
      </a:dk2>
      <a:lt2>
        <a:srgbClr val="E3E0D7"/>
      </a:lt2>
      <a:accent1>
        <a:srgbClr val="00347E"/>
      </a:accent1>
      <a:accent2>
        <a:srgbClr val="B28C4D"/>
      </a:accent2>
      <a:accent3>
        <a:srgbClr val="4A4843"/>
      </a:accent3>
      <a:accent4>
        <a:srgbClr val="6B6860"/>
      </a:accent4>
      <a:accent5>
        <a:srgbClr val="DDD9D1"/>
      </a:accent5>
      <a:accent6>
        <a:srgbClr val="ECEAE4"/>
      </a:accent6>
      <a:hlink>
        <a:srgbClr val="00347E"/>
      </a:hlink>
      <a:folHlink>
        <a:srgbClr val="B28C4D"/>
      </a:folHlink>
    </a:clrScheme>
    <a:fontScheme name="Erico">
      <a:majorFont>
        <a:latin typeface="Syne"/>
        <a:ea typeface=""/>
        <a:cs typeface=""/>
      </a:majorFont>
      <a:minorFont>
        <a:latin typeface="Inter"/>
        <a:ea typeface=""/>
        <a:cs typeface=""/>
      </a:minorFont>
    </a:fontScheme>
    <a:fmtScheme name="Eric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